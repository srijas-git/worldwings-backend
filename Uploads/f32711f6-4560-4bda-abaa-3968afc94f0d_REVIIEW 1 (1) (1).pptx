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Proxima Nova"/>
      <p:regular r:id="rId16"/>
      <p:bold r:id="rId17"/>
      <p:italic r:id="rId18"/>
      <p:boldItalic r:id="rId19"/>
    </p:embeddedFont>
    <p:embeddedFont>
      <p:font typeface="Proxima Nova Extrabold"/>
      <p:bold r:id="rId20"/>
    </p:embeddedFont>
    <p:embeddedFont>
      <p:font typeface="Alfa Slab One"/>
      <p:regular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2874D5-6A83-4238-BD8D-635EA27B9ECD}">
  <a:tblStyle styleId="{EE2874D5-6A83-4238-BD8D-635EA27B9EC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Extrabold-bold.fntdata"/><Relationship Id="rId22" Type="http://schemas.openxmlformats.org/officeDocument/2006/relationships/font" Target="fonts/OpenSans-regular.fntdata"/><Relationship Id="rId21" Type="http://schemas.openxmlformats.org/officeDocument/2006/relationships/font" Target="fonts/AlfaSlabOne-regular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roximaNova-bold.fntdata"/><Relationship Id="rId16" Type="http://schemas.openxmlformats.org/officeDocument/2006/relationships/font" Target="fonts/ProximaNova-regular.fntdata"/><Relationship Id="rId19" Type="http://schemas.openxmlformats.org/officeDocument/2006/relationships/font" Target="fonts/ProximaNova-boldItalic.fntdata"/><Relationship Id="rId18" Type="http://schemas.openxmlformats.org/officeDocument/2006/relationships/font" Target="fonts/ProximaNova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cee6b32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cee6b32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cee6b328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cee6b328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ee6b328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cee6b328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cee6b328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cee6b328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cee6b328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cee6b328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cee6b328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cee6b328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cee6b328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cee6b328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429123307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429123307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452175" y="652250"/>
            <a:ext cx="8520600" cy="201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733">
                <a:latin typeface="Proxima Nova"/>
                <a:ea typeface="Proxima Nova"/>
                <a:cs typeface="Proxima Nova"/>
                <a:sym typeface="Proxima Nova"/>
              </a:rPr>
              <a:t>RECONFIGURABLE PIPELINED RISC PROCESSOR CORE</a:t>
            </a:r>
            <a:r>
              <a:rPr lang="en-GB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62100" y="3143800"/>
            <a:ext cx="4209900" cy="13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TEAM MEMBERS</a:t>
            </a:r>
            <a:endParaRPr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SATHYA P (910022106012)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KIRUTHIGASHREE K (910022106050)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ASHMITHA R (910022106052)</a:t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5491550" y="3067175"/>
            <a:ext cx="3384300" cy="17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50">
                <a:solidFill>
                  <a:schemeClr val="dk2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PROJECT GUIDE</a:t>
            </a:r>
            <a:endParaRPr sz="1850">
              <a:solidFill>
                <a:schemeClr val="dk2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5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Dr.K.ESAKKI MUTHU</a:t>
            </a:r>
            <a:endParaRPr sz="185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50">
                <a:solidFill>
                  <a:srgbClr val="4B5563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Assistant professor &amp; HoD(i/c)</a:t>
            </a:r>
            <a:endParaRPr sz="1850">
              <a:solidFill>
                <a:srgbClr val="4B5563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50">
                <a:solidFill>
                  <a:srgbClr val="4B5563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Department of ECE</a:t>
            </a:r>
            <a:endParaRPr sz="1850">
              <a:solidFill>
                <a:srgbClr val="4B5563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450" y="88525"/>
            <a:ext cx="971450" cy="9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1206875" y="88525"/>
            <a:ext cx="76689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2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ANNA UNIVERSITY REGIONAL CAMPUS MADURAI</a:t>
            </a:r>
            <a:endParaRPr sz="3000">
              <a:solidFill>
                <a:schemeClr val="dk2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388825" y="4508200"/>
            <a:ext cx="35760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EC3811 PROJECT WORK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Proxima Nova"/>
                <a:ea typeface="Proxima Nova"/>
                <a:cs typeface="Proxima Nova"/>
                <a:sym typeface="Proxima Nova"/>
              </a:rPr>
              <a:t>ABSTRACT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401100" y="1342750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➢"/>
            </a:pPr>
            <a:r>
              <a:rPr lang="en-GB">
                <a:solidFill>
                  <a:srgbClr val="000000"/>
                </a:solidFill>
              </a:rPr>
              <a:t>Design and implementation of a reconfigurable five-stage pipelined RISC processor core.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➢"/>
            </a:pPr>
            <a:r>
              <a:rPr lang="en-GB">
                <a:solidFill>
                  <a:srgbClr val="000000"/>
                </a:solidFill>
              </a:rPr>
              <a:t>Supports 8-bit, 16-bit, and 32-bit operations using a unified datapath.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➢"/>
            </a:pPr>
            <a:r>
              <a:rPr lang="en-GB">
                <a:solidFill>
                  <a:srgbClr val="000000"/>
                </a:solidFill>
              </a:rPr>
              <a:t>Implements standard pipeline stages: IF, ID, EX, MEM, WB.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➢"/>
            </a:pPr>
            <a:r>
              <a:rPr lang="en-GB">
                <a:solidFill>
                  <a:srgbClr val="000000"/>
                </a:solidFill>
              </a:rPr>
              <a:t>Datapath width reconfiguration achieved through dedicated control logic.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➢"/>
            </a:pPr>
            <a:r>
              <a:rPr lang="en-GB">
                <a:solidFill>
                  <a:srgbClr val="000000"/>
                </a:solidFill>
              </a:rPr>
              <a:t>Developed in SystemVerilog and verified using Xilinx Vivado.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➢"/>
            </a:pPr>
            <a:r>
              <a:rPr lang="en-GB">
                <a:solidFill>
                  <a:srgbClr val="000000"/>
                </a:solidFill>
              </a:rPr>
              <a:t>Provides flexibility, efficient resource utilization, and improved throughput.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➢"/>
            </a:pPr>
            <a:r>
              <a:rPr lang="en-GB">
                <a:solidFill>
                  <a:srgbClr val="000000"/>
                </a:solidFill>
              </a:rPr>
              <a:t>Suitable for embedded and scalable computing applications.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Proxima Nova"/>
                <a:ea typeface="Proxima Nova"/>
                <a:cs typeface="Proxima Nova"/>
                <a:sym typeface="Proxima Nova"/>
              </a:rPr>
              <a:t>INTRODUCTION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➢"/>
            </a:pPr>
            <a:r>
              <a:rPr lang="en-GB">
                <a:solidFill>
                  <a:srgbClr val="000000"/>
                </a:solidFill>
              </a:rPr>
              <a:t>Reduced Instruction Set Computer (RISC) architectures emphasize simplicity, speed, and efficiency.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➢"/>
            </a:pPr>
            <a:r>
              <a:rPr lang="en-GB">
                <a:solidFill>
                  <a:srgbClr val="000000"/>
                </a:solidFill>
              </a:rPr>
              <a:t>Pipelining improves instruction throughput by overlapping execution stages.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➢"/>
            </a:pPr>
            <a:r>
              <a:rPr lang="en-GB">
                <a:solidFill>
                  <a:srgbClr val="000000"/>
                </a:solidFill>
              </a:rPr>
              <a:t>Modern embedded systems require configurable processing units to support multiple data widths.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➢"/>
            </a:pPr>
            <a:r>
              <a:rPr lang="en-GB">
                <a:solidFill>
                  <a:srgbClr val="000000"/>
                </a:solidFill>
              </a:rPr>
              <a:t>Fixed-width processors increase hardware cost and reduce flexibility.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➢"/>
            </a:pPr>
            <a:r>
              <a:rPr lang="en-GB">
                <a:solidFill>
                  <a:srgbClr val="000000"/>
                </a:solidFill>
              </a:rPr>
              <a:t>This project focuses on a single reconfigurable RISC core adaptable to multiple word lengths.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0" y="-119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Proxima Nova"/>
                <a:ea typeface="Proxima Nova"/>
                <a:cs typeface="Proxima Nova"/>
                <a:sym typeface="Proxima Nova"/>
              </a:rPr>
              <a:t>LITERATURE</a:t>
            </a:r>
            <a:r>
              <a:rPr b="1" lang="en-GB">
                <a:latin typeface="Proxima Nova"/>
                <a:ea typeface="Proxima Nova"/>
                <a:cs typeface="Proxima Nova"/>
                <a:sym typeface="Proxima Nova"/>
              </a:rPr>
              <a:t> SURVEY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79" name="Google Shape;79;p16"/>
          <p:cNvGraphicFramePr/>
          <p:nvPr/>
        </p:nvGraphicFramePr>
        <p:xfrm>
          <a:off x="26450" y="40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{EE2874D5-6A83-4238-BD8D-635EA27B9ECD}</a:tableStyleId>
              </a:tblPr>
              <a:tblGrid>
                <a:gridCol w="2483200"/>
                <a:gridCol w="2062350"/>
                <a:gridCol w="2272775"/>
                <a:gridCol w="2272775"/>
              </a:tblGrid>
              <a:tr h="366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Paper Title</a:t>
                      </a:r>
                      <a:endParaRPr b="1"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Authors</a:t>
                      </a:r>
                      <a:endParaRPr b="1"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Key Findings</a:t>
                      </a:r>
                      <a:endParaRPr b="1"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Limitations</a:t>
                      </a:r>
                      <a:endParaRPr b="1"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70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Computer Organization and Design – RISC Architecture (2021)</a:t>
                      </a:r>
                      <a:endParaRPr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D. A. Patterson, J. L. Hennessy</a:t>
                      </a:r>
                      <a:endParaRPr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Introduced fundamental RISC principles and instruction-level execution</a:t>
                      </a:r>
                      <a:endParaRPr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Conceptual and theoretical, no implementation details</a:t>
                      </a:r>
                      <a:endParaRPr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70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FPGA Implementation of a Basic RISC Processor (2016)</a:t>
                      </a:r>
                      <a:endParaRPr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R. Kumar, S. Verma</a:t>
                      </a:r>
                      <a:endParaRPr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Demonstrated RISC processor implementation on FPGA</a:t>
                      </a:r>
                      <a:endParaRPr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Fixed datapath width and non-pipelined design</a:t>
                      </a:r>
                      <a:endParaRPr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70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Reconfigurable Processor Architecture for Embedded Systems (2018)</a:t>
                      </a:r>
                      <a:endParaRPr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L. Zhang, Y. Chen</a:t>
                      </a:r>
                      <a:endParaRPr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Highlighted need for reconfigurable processors in embedded systems</a:t>
                      </a:r>
                      <a:endParaRPr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Does not include pipelined execution</a:t>
                      </a:r>
                      <a:endParaRPr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70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Reconfigurable Approximate Computing RISC-V Platform for Fault-Tolerant Application (2024)</a:t>
                      </a:r>
                      <a:endParaRPr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Arvin Delavari, Faraz Ghoreishy, Sattar Mirzakuchaki, Hadi Shahriar Shahhoseini</a:t>
                      </a:r>
                      <a:endParaRPr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Proposed a RISC-V platform with configurable datapath features that allow runtime trade-offs between accuracy and energy efficient </a:t>
                      </a:r>
                      <a:endParaRPr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Focus on approximate computing and energy trade-offs, not on general-purpose multi-width pipelining</a:t>
                      </a:r>
                      <a:endParaRPr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70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Design of a Five-Stage Pipelined RISC Processor (2011 -2014 Editions)</a:t>
                      </a:r>
                      <a:endParaRPr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D. A. Patterson, J. L. Hennessy</a:t>
                      </a:r>
                      <a:endParaRPr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D. A. Patterson, J. L. Hennessy</a:t>
                      </a:r>
                      <a:endParaRPr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Fixed 32-bit architecture</a:t>
                      </a:r>
                      <a:endParaRPr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Proxima Nova"/>
                <a:ea typeface="Proxima Nova"/>
                <a:cs typeface="Proxima Nova"/>
                <a:sym typeface="Proxima Nova"/>
              </a:rPr>
              <a:t>EXISTING WORK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arenR"/>
            </a:pPr>
            <a:r>
              <a:rPr lang="en-GB">
                <a:solidFill>
                  <a:srgbClr val="000000"/>
                </a:solidFill>
              </a:rPr>
              <a:t>Separate processors designed for each data width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arenR"/>
            </a:pPr>
            <a:r>
              <a:rPr lang="en-GB">
                <a:solidFill>
                  <a:srgbClr val="000000"/>
                </a:solidFill>
              </a:rPr>
              <a:t>Fixed datapath and control logic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arenR"/>
            </a:pPr>
            <a:r>
              <a:rPr lang="en-GB">
                <a:solidFill>
                  <a:srgbClr val="000000"/>
                </a:solidFill>
              </a:rPr>
              <a:t> Limited scalability and reuse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arenR"/>
            </a:pPr>
            <a:r>
              <a:rPr lang="en-GB">
                <a:solidFill>
                  <a:srgbClr val="000000"/>
                </a:solidFill>
              </a:rPr>
              <a:t>Higher development and maintenance cost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arenR"/>
            </a:pPr>
            <a:r>
              <a:rPr lang="en-GB">
                <a:solidFill>
                  <a:srgbClr val="000000"/>
                </a:solidFill>
              </a:rPr>
              <a:t>Increased silicon area due to redundant hardware blocks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Proxima Nova"/>
                <a:ea typeface="Proxima Nova"/>
                <a:cs typeface="Proxima Nova"/>
                <a:sym typeface="Proxima Nova"/>
              </a:rPr>
              <a:t>PROBLEM STATEMENT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Designing separate processors for different word sizes increases:</a:t>
            </a:r>
            <a:endParaRPr b="1"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/>
              <a:t>Hardware redundancy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/>
              <a:t>Area and power consumption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Fixed datapath width limits adaptability across applications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Need for a processor that:</a:t>
            </a:r>
            <a:endParaRPr b="1"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/>
              <a:t>Supports multiple data widths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/>
              <a:t>Maintains pipelined performance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/>
              <a:t>Uses minimal additional hardware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Proxima Nova"/>
                <a:ea typeface="Proxima Nova"/>
                <a:cs typeface="Proxima Nova"/>
                <a:sym typeface="Proxima Nova"/>
              </a:rPr>
              <a:t>PROPOSED WORK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017725"/>
            <a:ext cx="8520600" cy="37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arenR"/>
            </a:pPr>
            <a:r>
              <a:rPr lang="en-GB">
                <a:solidFill>
                  <a:srgbClr val="000000"/>
                </a:solidFill>
              </a:rPr>
              <a:t>Single reconfigurable pipelined RISC processor core.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arenR"/>
            </a:pPr>
            <a:r>
              <a:rPr lang="en-GB">
                <a:solidFill>
                  <a:srgbClr val="000000"/>
                </a:solidFill>
              </a:rPr>
              <a:t>Five pipeline stages:</a:t>
            </a:r>
            <a:endParaRPr>
              <a:solidFill>
                <a:srgbClr val="000000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-GB">
                <a:solidFill>
                  <a:srgbClr val="000000"/>
                </a:solidFill>
              </a:rPr>
              <a:t>Instruction Fetch (IF)</a:t>
            </a:r>
            <a:endParaRPr>
              <a:solidFill>
                <a:srgbClr val="000000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-GB">
                <a:solidFill>
                  <a:srgbClr val="000000"/>
                </a:solidFill>
              </a:rPr>
              <a:t>Instruction Decode (ID)</a:t>
            </a:r>
            <a:endParaRPr>
              <a:solidFill>
                <a:srgbClr val="000000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-GB">
                <a:solidFill>
                  <a:srgbClr val="000000"/>
                </a:solidFill>
              </a:rPr>
              <a:t>Execute (EX)</a:t>
            </a:r>
            <a:endParaRPr>
              <a:solidFill>
                <a:srgbClr val="000000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-GB">
                <a:solidFill>
                  <a:srgbClr val="000000"/>
                </a:solidFill>
              </a:rPr>
              <a:t>Memory Access (MEM)</a:t>
            </a:r>
            <a:endParaRPr>
              <a:solidFill>
                <a:srgbClr val="000000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-GB">
                <a:solidFill>
                  <a:srgbClr val="000000"/>
                </a:solidFill>
              </a:rPr>
              <a:t>Write Back (WB)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arenR"/>
            </a:pPr>
            <a:r>
              <a:rPr lang="en-GB">
                <a:solidFill>
                  <a:srgbClr val="000000"/>
                </a:solidFill>
              </a:rPr>
              <a:t>Configurable datapath width selected via control signals.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arenR"/>
            </a:pPr>
            <a:r>
              <a:rPr lang="en-GB">
                <a:solidFill>
                  <a:srgbClr val="000000"/>
                </a:solidFill>
              </a:rPr>
              <a:t>Unified ALU and register file supporting multiple bit widths.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arenR"/>
            </a:pPr>
            <a:r>
              <a:rPr lang="en-GB">
                <a:solidFill>
                  <a:srgbClr val="000000"/>
                </a:solidFill>
              </a:rPr>
              <a:t>Designed and simulated using SystemVerilog in Xilinx Vivado.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Proxima Nova"/>
                <a:ea typeface="Proxima Nova"/>
                <a:cs typeface="Proxima Nova"/>
                <a:sym typeface="Proxima Nova"/>
              </a:rPr>
              <a:t>OBJECTIVES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75200" y="1205375"/>
            <a:ext cx="8520600" cy="22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>
                <a:solidFill>
                  <a:srgbClr val="000000"/>
                </a:solidFill>
              </a:rPr>
              <a:t>Enable reconfigurable operation for 8-bit, 16-bit, and 32-bit modes.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>
                <a:solidFill>
                  <a:srgbClr val="000000"/>
                </a:solidFill>
              </a:rPr>
              <a:t>Implement a unified datapath with configurable control logic.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>
                <a:solidFill>
                  <a:srgbClr val="000000"/>
                </a:solidFill>
              </a:rPr>
              <a:t>Develop the design using </a:t>
            </a:r>
            <a:r>
              <a:rPr lang="en-GB">
                <a:solidFill>
                  <a:srgbClr val="000000"/>
                </a:solidFill>
              </a:rPr>
              <a:t>SystemVerilog.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>
                <a:solidFill>
                  <a:srgbClr val="000000"/>
                </a:solidFill>
              </a:rPr>
              <a:t>Simulate and verify functionality using Xilinx Vivado.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>
                <a:solidFill>
                  <a:srgbClr val="000000"/>
                </a:solidFill>
              </a:rPr>
              <a:t>Achieve efficient resource utilization without sacrificing performance.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Proxima Nova"/>
                <a:ea typeface="Proxima Nova"/>
                <a:cs typeface="Proxima Nova"/>
                <a:sym typeface="Proxima Nova"/>
              </a:rPr>
              <a:t>REFERENCE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-GB">
                <a:solidFill>
                  <a:srgbClr val="000000"/>
                </a:solidFill>
              </a:rPr>
              <a:t>Patterson, D. A., &amp; Hennessy, J. L., </a:t>
            </a:r>
            <a:r>
              <a:rPr i="1" lang="en-GB">
                <a:solidFill>
                  <a:srgbClr val="000000"/>
                </a:solidFill>
              </a:rPr>
              <a:t>Computer Organization and Design – RISC-V Edition</a:t>
            </a:r>
            <a:endParaRPr i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-GB">
                <a:solidFill>
                  <a:srgbClr val="000000"/>
                </a:solidFill>
              </a:rPr>
              <a:t>John L. Hennessy and David A. Patterson, </a:t>
            </a:r>
            <a:r>
              <a:rPr i="1" lang="en-GB">
                <a:solidFill>
                  <a:srgbClr val="000000"/>
                </a:solidFill>
              </a:rPr>
              <a:t>Computer Architecture: A Quantitative Approach</a:t>
            </a:r>
            <a:endParaRPr i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-GB">
                <a:solidFill>
                  <a:srgbClr val="000000"/>
                </a:solidFill>
              </a:rPr>
              <a:t>Xilinx Vivado Design Suite User Guide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-GB">
                <a:solidFill>
                  <a:srgbClr val="000000"/>
                </a:solidFill>
              </a:rPr>
              <a:t>IEEE Research Papers on Pipelined and Reconfigurable Processor Architectures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